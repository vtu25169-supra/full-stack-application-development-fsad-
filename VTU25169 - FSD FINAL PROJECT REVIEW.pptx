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71" r:id="rId12"/>
    <p:sldId id="269" r:id="rId13"/>
    <p:sldId id="267" r:id="rId14"/>
    <p:sldId id="268"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C6001E-0F6A-47F1-A03D-BC5EE417CC43}" v="7" dt="2026-04-20T15:40:38.5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28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Information Technology</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10211IT224/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 SMART CAMPUS EVENT MANAGEMENT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533400" y="7818586"/>
            <a:ext cx="9143999"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S.Raga</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Suprathika</a:t>
            </a:r>
            <a:r>
              <a:rPr lang="en-US" sz="3000" dirty="0">
                <a:latin typeface="Cambria" panose="02040503050406030204" pitchFamily="18" charset="0"/>
                <a:ea typeface="Cambria" panose="02040503050406030204" pitchFamily="18" charset="0"/>
              </a:rPr>
              <a:t> Lakshmi– VTU25169 – 23UECS1208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1088975" y="7472337"/>
            <a:ext cx="6629399"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HAFIZUR RAHMAN </a:t>
            </a:r>
          </a:p>
          <a:p>
            <a:pPr>
              <a:lnSpc>
                <a:spcPct val="150000"/>
              </a:lnSpc>
            </a:pPr>
            <a:r>
              <a:rPr lang="en-US" sz="3000" dirty="0">
                <a:latin typeface="Cambria" panose="02040503050406030204" pitchFamily="18" charset="0"/>
                <a:ea typeface="Cambria" panose="02040503050406030204" pitchFamily="18" charset="0"/>
              </a:rPr>
              <a:t>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076360" y="7044076"/>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228600" y="502427"/>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384995"/>
          </a:xfrm>
          <a:prstGeom prst="rect">
            <a:avLst/>
          </a:prstGeom>
          <a:noFill/>
        </p:spPr>
        <p:txBody>
          <a:bodyPr wrap="square" rtlCol="0">
            <a:spAutoFit/>
          </a:bodyPr>
          <a:lstStyle/>
          <a:p>
            <a:endParaRPr lang="en-US" sz="2800" dirty="0"/>
          </a:p>
          <a:p>
            <a:endParaRPr lang="en-US" sz="2800" dirty="0"/>
          </a:p>
          <a:p>
            <a:endParaRPr lang="en-US" sz="2800" dirty="0"/>
          </a:p>
        </p:txBody>
      </p:sp>
      <p:sp>
        <p:nvSpPr>
          <p:cNvPr id="6" name="Rectangle 3">
            <a:extLst>
              <a:ext uri="{FF2B5EF4-FFF2-40B4-BE49-F238E27FC236}">
                <a16:creationId xmlns:a16="http://schemas.microsoft.com/office/drawing/2014/main" id="{F7B74028-4C58-EA27-0DB5-31C168B4753B}"/>
              </a:ext>
            </a:extLst>
          </p:cNvPr>
          <p:cNvSpPr>
            <a:spLocks noChangeArrowheads="1"/>
          </p:cNvSpPr>
          <p:nvPr/>
        </p:nvSpPr>
        <p:spPr bwMode="auto">
          <a:xfrm>
            <a:off x="2578509" y="2466836"/>
            <a:ext cx="14566491"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q"/>
            </a:pPr>
            <a:r>
              <a:rPr lang="en-US" sz="2400" dirty="0"/>
              <a:t>In today’s digital age, managing campus events manually leads to inefficiencies, miscommunication, and lack of centralized information for students and administrators.</a:t>
            </a:r>
            <a:endParaRPr kumimoji="0" lang="en-US" altLang="en-US" sz="2400" b="0" i="0" u="none" strike="noStrike" cap="none" normalizeH="0" baseline="0" dirty="0">
              <a:ln>
                <a:noFill/>
              </a:ln>
              <a:solidFill>
                <a:schemeClr val="tx1"/>
              </a:solidFill>
              <a:effectLst/>
              <a:ea typeface="Cambria" panose="02040503050406030204" pitchFamily="18" charset="0"/>
            </a:endParaRPr>
          </a:p>
          <a:p>
            <a:pPr marL="342900" lvl="0" indent="-342900" eaLnBrk="0" fontAlgn="base" hangingPunct="0">
              <a:spcBef>
                <a:spcPct val="0"/>
              </a:spcBef>
              <a:spcAft>
                <a:spcPct val="0"/>
              </a:spcAft>
              <a:buFont typeface="Wingdings" panose="05000000000000000000" pitchFamily="2" charset="2"/>
              <a:buChar char="q"/>
            </a:pPr>
            <a:r>
              <a:rPr lang="en-US" sz="2400" dirty="0"/>
              <a:t>Many institutions rely on notice boards or scattered platforms, which makes it difficult for students to stay updated about upcoming events and registrations.</a:t>
            </a:r>
            <a:endParaRPr kumimoji="0" lang="en-US" altLang="en-US" sz="2400" b="0" i="0" u="none" strike="noStrike" cap="none" normalizeH="0" baseline="0" dirty="0">
              <a:ln>
                <a:noFill/>
              </a:ln>
              <a:solidFill>
                <a:schemeClr val="tx1"/>
              </a:solidFill>
              <a:effectLst/>
              <a:ea typeface="Cambria" panose="02040503050406030204" pitchFamily="18" charset="0"/>
            </a:endParaRPr>
          </a:p>
          <a:p>
            <a:pPr marL="342900" lvl="0" indent="-342900" eaLnBrk="0" fontAlgn="base" hangingPunct="0">
              <a:spcBef>
                <a:spcPct val="0"/>
              </a:spcBef>
              <a:spcAft>
                <a:spcPct val="0"/>
              </a:spcAft>
              <a:buFont typeface="Wingdings" panose="05000000000000000000" pitchFamily="2" charset="2"/>
              <a:buChar char="q"/>
            </a:pPr>
            <a:r>
              <a:rPr lang="en-US" sz="2400" dirty="0"/>
              <a:t>There is a growing need for a centralized, automated, and user-friendly system to manage campus events effectively.</a:t>
            </a:r>
            <a:endParaRPr kumimoji="0" lang="en-US" altLang="en-US" sz="2400" b="0" i="0" u="none" strike="noStrike" cap="none" normalizeH="0" baseline="0" dirty="0">
              <a:ln>
                <a:noFill/>
              </a:ln>
              <a:solidFill>
                <a:schemeClr val="tx1"/>
              </a:solidFill>
              <a:effectLst/>
              <a:ea typeface="Cambria" panose="02040503050406030204" pitchFamily="18" charset="0"/>
            </a:endParaRPr>
          </a:p>
          <a:p>
            <a:pPr marL="342900" lvl="0" indent="-342900" eaLnBrk="0" fontAlgn="base" hangingPunct="0">
              <a:spcBef>
                <a:spcPct val="0"/>
              </a:spcBef>
              <a:spcAft>
                <a:spcPct val="0"/>
              </a:spcAft>
              <a:buFont typeface="Wingdings" panose="05000000000000000000" pitchFamily="2" charset="2"/>
              <a:buChar char="q"/>
            </a:pPr>
            <a:r>
              <a:rPr lang="en-US" sz="2400" dirty="0"/>
              <a:t>The </a:t>
            </a:r>
            <a:r>
              <a:rPr lang="en-US" sz="2400" b="1" dirty="0"/>
              <a:t>Smart Campus Event Management System</a:t>
            </a:r>
            <a:r>
              <a:rPr lang="en-US" sz="2400" dirty="0"/>
              <a:t> is a web-based application designed to organize, manage, and track campus events such as workshops, seminars, and technical fests</a:t>
            </a:r>
            <a:endParaRPr kumimoji="0" lang="en-US" altLang="en-US" sz="2400" b="0" i="0" u="none" strike="noStrike" cap="none" normalizeH="0" baseline="0" dirty="0">
              <a:ln>
                <a:noFill/>
              </a:ln>
              <a:solidFill>
                <a:schemeClr val="tx1"/>
              </a:solidFill>
              <a:effectLst/>
              <a:ea typeface="Cambria" panose="02040503050406030204" pitchFamily="18" charset="0"/>
            </a:endParaRPr>
          </a:p>
          <a:p>
            <a:pPr marL="342900" lvl="0" indent="-342900" eaLnBrk="0" fontAlgn="base" hangingPunct="0">
              <a:spcBef>
                <a:spcPct val="0"/>
              </a:spcBef>
              <a:spcAft>
                <a:spcPct val="0"/>
              </a:spcAft>
              <a:buFont typeface="Wingdings" panose="05000000000000000000" pitchFamily="2" charset="2"/>
              <a:buChar char="q"/>
            </a:pPr>
            <a:r>
              <a:rPr lang="en-US" sz="2400" dirty="0"/>
              <a:t>It allows students to browse events, register online, and view their registered events, while administrators can perform CRUD operations (Create, Read, Update, Delete) on event </a:t>
            </a:r>
            <a:r>
              <a:rPr lang="en-US" sz="2400" dirty="0" err="1"/>
              <a:t>details.</a:t>
            </a:r>
            <a:r>
              <a:rPr kumimoji="0" lang="en-US" altLang="en-US" sz="2400" b="0" i="0" u="none" strike="noStrike" cap="none" normalizeH="0" baseline="0" dirty="0" err="1">
                <a:ln>
                  <a:noFill/>
                </a:ln>
                <a:solidFill>
                  <a:schemeClr val="tx1"/>
                </a:solidFill>
                <a:effectLst/>
                <a:ea typeface="Cambria" panose="02040503050406030204" pitchFamily="18" charset="0"/>
              </a:rPr>
              <a:t>It</a:t>
            </a:r>
            <a:r>
              <a:rPr kumimoji="0" lang="en-US" altLang="en-US" sz="2400" b="0" i="0" u="none" strike="noStrike" cap="none" normalizeH="0" baseline="0" dirty="0">
                <a:ln>
                  <a:noFill/>
                </a:ln>
                <a:solidFill>
                  <a:schemeClr val="tx1"/>
                </a:solidFill>
                <a:effectLst/>
                <a:ea typeface="Cambria" panose="02040503050406030204" pitchFamily="18" charset="0"/>
              </a:rPr>
              <a:t> allows users to perform CRUD operations (Create, Read, Update, Delete) on expense records.</a:t>
            </a:r>
          </a:p>
          <a:p>
            <a:pPr marL="342900" lvl="0" indent="-342900" eaLnBrk="0" fontAlgn="base" hangingPunct="0">
              <a:spcBef>
                <a:spcPct val="0"/>
              </a:spcBef>
              <a:spcAft>
                <a:spcPct val="0"/>
              </a:spcAft>
              <a:buFont typeface="Wingdings" panose="05000000000000000000" pitchFamily="2" charset="2"/>
              <a:buChar char="q"/>
            </a:pPr>
            <a:r>
              <a:rPr lang="en-US" sz="2400" dirty="0"/>
              <a:t>The platform provides analytical features such as event-wise registration counts and filtered search options based on date, department, and event type.</a:t>
            </a:r>
            <a:endParaRPr kumimoji="0" lang="en-US" altLang="en-US" sz="2400" b="0" i="0" u="none" strike="noStrike" cap="none" normalizeH="0" baseline="0" dirty="0">
              <a:ln>
                <a:noFill/>
              </a:ln>
              <a:solidFill>
                <a:schemeClr val="tx1"/>
              </a:solidFill>
              <a:effectLst/>
              <a:ea typeface="Cambria" panose="02040503050406030204" pitchFamily="18" charset="0"/>
            </a:endParaRPr>
          </a:p>
          <a:p>
            <a:pPr marL="342900" lvl="0" indent="-342900" eaLnBrk="0" fontAlgn="base" hangingPunct="0">
              <a:spcBef>
                <a:spcPct val="0"/>
              </a:spcBef>
              <a:spcAft>
                <a:spcPct val="0"/>
              </a:spcAft>
              <a:buFont typeface="Wingdings" panose="05000000000000000000" pitchFamily="2" charset="2"/>
              <a:buChar char="q"/>
            </a:pPr>
            <a:r>
              <a:rPr lang="en-US" sz="2400" dirty="0"/>
              <a:t>The system is developed using </a:t>
            </a:r>
            <a:r>
              <a:rPr lang="en-US" sz="2400" b="1" dirty="0"/>
              <a:t>Spring Boot, Spring MVC, Spring Data JPA for backend</a:t>
            </a:r>
            <a:r>
              <a:rPr lang="en-US" sz="2400" dirty="0"/>
              <a:t> and </a:t>
            </a:r>
            <a:r>
              <a:rPr lang="en-US" sz="2400" b="1" dirty="0"/>
              <a:t>HTML, CSS, Bootstrap, and ReactJS for frontend</a:t>
            </a:r>
            <a:r>
              <a:rPr lang="en-US" sz="2400" dirty="0"/>
              <a:t>, ensuring a scalable, responsive, and secure application.</a:t>
            </a:r>
            <a:endParaRPr kumimoji="0" lang="en-US" altLang="en-US" sz="2400" b="0" i="0" u="none" strike="noStrike" cap="none" normalizeH="0" baseline="0" dirty="0">
              <a:ln>
                <a:noFill/>
              </a:ln>
              <a:solidFill>
                <a:schemeClr val="tx1"/>
              </a:solidFill>
              <a:effectLst/>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180249" y="1872697"/>
            <a:ext cx="15079051" cy="6986528"/>
          </a:xfrm>
          <a:prstGeom prst="rect">
            <a:avLst/>
          </a:prstGeom>
          <a:noFill/>
        </p:spPr>
        <p:txBody>
          <a:bodyPr wrap="square" rtlCol="0">
            <a:spAutoFit/>
          </a:bodyPr>
          <a:lstStyle/>
          <a:p>
            <a:r>
              <a:rPr lang="en-US" sz="2800" dirty="0"/>
              <a:t>In today’s fast-paced digital world, individuals and small organizations face significant challenges in managing their expenses efficiently. Most users still depend on traditional methods such as notebooks, paper records, or basic spreadsheets, which are not only time-consuming but also highly prone to human errors and poor data organization. These approaches lack a structured mechanism to maintain relationships between users and their expense records, making it difficult to track, retrieve, and analyze financial data accurately.</a:t>
            </a:r>
          </a:p>
          <a:p>
            <a:endParaRPr lang="en-US" sz="2800" dirty="0"/>
          </a:p>
          <a:p>
            <a:r>
              <a:rPr lang="en-US" sz="2800" dirty="0"/>
              <a:t>Furthermore, the absence of a centralized and automated system limits the ability to generate meaningful insights such as total expenditure, category-wise analysis, and spending patterns. Existing financial management solutions are often complex, costly, or tailored for large enterprises, making them unsuitable for small-scale users. As a result, users are unable to make informed financial decisions due to the lack of real-time analytics and efficient data handling.</a:t>
            </a:r>
          </a:p>
          <a:p>
            <a:endParaRPr lang="en-US" sz="2800" dirty="0"/>
          </a:p>
          <a:p>
            <a:r>
              <a:rPr lang="en-US" sz="2800" dirty="0"/>
              <a:t>Therefore, there is a need to develop a simple, cost-effective, and web-based relational expense management system that can efficiently store, manage, and analyze expense data, while providing accurate insights and an easy-to-use interface for better financial control.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34501" y="2573962"/>
            <a:ext cx="15082325" cy="2677656"/>
          </a:xfrm>
          <a:prstGeom prst="rect">
            <a:avLst/>
          </a:prstGeom>
          <a:noFill/>
        </p:spPr>
        <p:txBody>
          <a:bodyPr wrap="square" rtlCol="0">
            <a:spAutoFit/>
          </a:bodyPr>
          <a:lstStyle/>
          <a:p>
            <a:pPr marL="457200" indent="-457200">
              <a:buFont typeface="Wingdings" panose="05000000000000000000" pitchFamily="2" charset="2"/>
              <a:buChar char="q"/>
            </a:pPr>
            <a:r>
              <a:rPr lang="en-US" sz="2800" dirty="0"/>
              <a:t>To design and develop a responsive web-based Smart Campus Event Management System for efficiently managing campus events using Spring Boot, ReactJS.</a:t>
            </a:r>
          </a:p>
          <a:p>
            <a:pPr marL="457200" indent="-457200">
              <a:buFont typeface="Wingdings" panose="05000000000000000000" pitchFamily="2" charset="2"/>
              <a:buChar char="q"/>
            </a:pPr>
            <a:endParaRPr lang="en-US" sz="2800" dirty="0"/>
          </a:p>
          <a:p>
            <a:pPr marL="457200" indent="-457200">
              <a:buFont typeface="Wingdings" panose="05000000000000000000" pitchFamily="2" charset="2"/>
              <a:buChar char="q"/>
            </a:pPr>
            <a:r>
              <a:rPr lang="en-US" sz="2800" dirty="0"/>
              <a:t>To implement secure CRUD operations and enable features such as event registration, search, and analytical reporting (event-wise registrations) using Spring Data JPA and a relational database system.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110043" y="1978900"/>
            <a:ext cx="15468600" cy="7109639"/>
          </a:xfrm>
          <a:prstGeom prst="rect">
            <a:avLst/>
          </a:prstGeom>
          <a:noFill/>
        </p:spPr>
        <p:txBody>
          <a:bodyPr wrap="square" rtlCol="0">
            <a:spAutoFit/>
          </a:bodyPr>
          <a:lstStyle/>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Complete Event Management Solution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Smart Campus Event Management System is a web-based platform that enables colleges/universities to efficiently manage campus events, workshops, and seminars. It allows students to browse, register, and track events, while administrators can manage event details and monitor participation.</a:t>
            </a:r>
          </a:p>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Secure Data Handling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Implements Spring Security and backend validation mechanisms to ensure secure user authentication and data protection. Uses a relational database to maintain data integrity and prevent unauthorized access.</a:t>
            </a:r>
          </a:p>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Dynamic Event Management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Event details are stored in a relational database and displayed dynamically through web pages. The system supports real-time updates for event creation, registration, and modifications.</a:t>
            </a:r>
          </a:p>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Relational Database Structure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Maintains structured relationships between entities such as Users, Events, and Registrations using primary and foreign keys for consistency and efficient data retrieval.</a:t>
            </a:r>
          </a:p>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Real-Time Analytics &amp; Reporting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Provides insights such as total number of registrations, event-wise participation, and filtered search results based on date, department, and event type.</a:t>
            </a:r>
          </a:p>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Fully Responsive Web Design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Developed using HTML, CSS, Bootstrap, and </a:t>
            </a:r>
            <a:r>
              <a:rPr lang="en-US" sz="2400" dirty="0" err="1">
                <a:latin typeface="Times New Roman" panose="02020603050405020304" pitchFamily="18" charset="0"/>
                <a:cs typeface="Times New Roman" panose="02020603050405020304" pitchFamily="18" charset="0"/>
              </a:rPr>
              <a:t>Thymeleaf</a:t>
            </a:r>
            <a:r>
              <a:rPr lang="en-US" sz="2400" dirty="0">
                <a:latin typeface="Times New Roman" panose="02020603050405020304" pitchFamily="18" charset="0"/>
                <a:cs typeface="Times New Roman" panose="02020603050405020304" pitchFamily="18" charset="0"/>
              </a:rPr>
              <a:t> to ensure compatibility across desktops, tablets, and mobile devices.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9" name="TextBox 39"/>
          <p:cNvSpPr txBox="1"/>
          <p:nvPr/>
        </p:nvSpPr>
        <p:spPr>
          <a:xfrm>
            <a:off x="12792815" y="-8988429"/>
            <a:ext cx="8932970" cy="9319492"/>
          </a:xfrm>
          <a:prstGeom prst="rect">
            <a:avLst/>
          </a:prstGeom>
        </p:spPr>
        <p:txBody>
          <a:bodyPr lIns="50800" tIns="50800" rIns="50800" bIns="50800" rtlCol="0" anchor="ctr"/>
          <a:lstStyle/>
          <a:p>
            <a:pPr algn="ctr">
              <a:lnSpc>
                <a:spcPts val="2659"/>
              </a:lnSpc>
            </a:pPr>
            <a:endParaRPr/>
          </a:p>
        </p:txBody>
      </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A63D3FA8-A632-74F8-93AF-17735AF13A0E}"/>
              </a:ext>
            </a:extLst>
          </p:cNvPr>
          <p:cNvPicPr>
            <a:picLocks noChangeAspect="1"/>
          </p:cNvPicPr>
          <p:nvPr/>
        </p:nvPicPr>
        <p:blipFill>
          <a:blip r:embed="rId3"/>
          <a:stretch>
            <a:fillRect/>
          </a:stretch>
        </p:blipFill>
        <p:spPr>
          <a:xfrm>
            <a:off x="3058676" y="1987111"/>
            <a:ext cx="11446159" cy="3505504"/>
          </a:xfrm>
          <a:prstGeom prst="rect">
            <a:avLst/>
          </a:prstGeom>
        </p:spPr>
      </p:pic>
      <p:pic>
        <p:nvPicPr>
          <p:cNvPr id="38" name="Picture 37">
            <a:extLst>
              <a:ext uri="{FF2B5EF4-FFF2-40B4-BE49-F238E27FC236}">
                <a16:creationId xmlns:a16="http://schemas.microsoft.com/office/drawing/2014/main" id="{5855CFD5-60E2-7B87-51CA-B83ABCFB27A8}"/>
              </a:ext>
            </a:extLst>
          </p:cNvPr>
          <p:cNvPicPr>
            <a:picLocks noChangeAspect="1"/>
          </p:cNvPicPr>
          <p:nvPr/>
        </p:nvPicPr>
        <p:blipFill>
          <a:blip r:embed="rId4"/>
          <a:stretch>
            <a:fillRect/>
          </a:stretch>
        </p:blipFill>
        <p:spPr>
          <a:xfrm>
            <a:off x="2782656" y="5240746"/>
            <a:ext cx="14003704" cy="42392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BFBB321-274F-EA3D-377C-F4DFDCE3C56F}"/>
              </a:ext>
            </a:extLst>
          </p:cNvPr>
          <p:cNvPicPr>
            <a:picLocks noChangeAspect="1"/>
          </p:cNvPicPr>
          <p:nvPr/>
        </p:nvPicPr>
        <p:blipFill>
          <a:blip r:embed="rId3"/>
          <a:stretch>
            <a:fillRect/>
          </a:stretch>
        </p:blipFill>
        <p:spPr>
          <a:xfrm>
            <a:off x="6324600" y="1790700"/>
            <a:ext cx="6248400" cy="762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27934" y="2538182"/>
            <a:ext cx="15082325" cy="5632311"/>
          </a:xfrm>
          <a:prstGeom prst="rect">
            <a:avLst/>
          </a:prstGeom>
          <a:noFill/>
        </p:spPr>
        <p:txBody>
          <a:bodyPr wrap="square" rtlCol="0">
            <a:spAutoFit/>
          </a:bodyPr>
          <a:lstStyle/>
          <a:p>
            <a:pPr marL="342900" indent="-342900">
              <a:buFont typeface="Wingdings" panose="05000000000000000000" pitchFamily="2" charset="2"/>
              <a:buChar char="q"/>
            </a:pPr>
            <a:r>
              <a:rPr lang="en-IN" sz="2400" b="1" dirty="0"/>
              <a:t>Frontend: </a:t>
            </a:r>
            <a:r>
              <a:rPr lang="en-IN" sz="2400" dirty="0"/>
              <a:t> HTML5, CSS3, JavaScript, </a:t>
            </a:r>
            <a:r>
              <a:rPr lang="en-US" sz="2400" dirty="0" err="1"/>
              <a:t>Thymeleaf</a:t>
            </a:r>
            <a:endParaRPr lang="en-IN" sz="2400" dirty="0"/>
          </a:p>
          <a:p>
            <a:endParaRPr lang="en-IN" sz="2400" dirty="0"/>
          </a:p>
          <a:p>
            <a:pPr marL="342900" indent="-342900">
              <a:buFont typeface="Wingdings" panose="05000000000000000000" pitchFamily="2" charset="2"/>
              <a:buChar char="q"/>
            </a:pPr>
            <a:r>
              <a:rPr lang="en-IN" sz="2400" b="1" dirty="0"/>
              <a:t>Backend: </a:t>
            </a:r>
            <a:r>
              <a:rPr lang="en-US" sz="2400" dirty="0"/>
              <a:t>Java 17, Spring Boot 3.2.4, Spring Web (REST APIs),</a:t>
            </a:r>
          </a:p>
          <a:p>
            <a:pPr marL="342900" indent="-342900">
              <a:buFont typeface="Wingdings" panose="05000000000000000000" pitchFamily="2" charset="2"/>
              <a:buChar char="q"/>
            </a:pPr>
            <a:endParaRPr lang="en-IN" sz="2400" dirty="0"/>
          </a:p>
          <a:p>
            <a:pPr marL="342900" indent="-342900">
              <a:buFont typeface="Wingdings" panose="05000000000000000000" pitchFamily="2" charset="2"/>
              <a:buChar char="q"/>
            </a:pPr>
            <a:r>
              <a:rPr lang="en-IN" sz="2400" b="1" dirty="0"/>
              <a:t>Database: </a:t>
            </a:r>
            <a:r>
              <a:rPr lang="en-US" sz="2400" dirty="0"/>
              <a:t>H2 In-Memory Relational Database (for development), Entity Mapping using JPA (Users, Events, Registrations Tables)</a:t>
            </a:r>
            <a:endParaRPr lang="en-IN" sz="2400" dirty="0"/>
          </a:p>
          <a:p>
            <a:pPr marL="342900" indent="-342900">
              <a:buFont typeface="Wingdings" panose="05000000000000000000" pitchFamily="2" charset="2"/>
              <a:buChar char="q"/>
            </a:pPr>
            <a:r>
              <a:rPr lang="en-IN" sz="2400" b="1" dirty="0"/>
              <a:t>Tools:</a:t>
            </a:r>
            <a:r>
              <a:rPr lang="en-IN" sz="2400" dirty="0"/>
              <a:t> Apache Maven (Backend Build Tool), Vite (Frontend Build Tool), VS Code (Development Environment), </a:t>
            </a:r>
            <a:r>
              <a:rPr lang="en-IN" sz="2400" dirty="0" err="1"/>
              <a:t>ESLint</a:t>
            </a:r>
            <a:r>
              <a:rPr lang="en-IN" sz="2400" dirty="0"/>
              <a:t> (Code Quality), Embedded Tomcat Server, Web Browser (Chrome/Edge)</a:t>
            </a:r>
          </a:p>
          <a:p>
            <a:endParaRPr lang="en-IN" sz="2400" dirty="0"/>
          </a:p>
          <a:p>
            <a:pPr marL="342900" indent="-342900">
              <a:buFont typeface="Wingdings" panose="05000000000000000000" pitchFamily="2" charset="2"/>
              <a:buChar char="q"/>
            </a:pPr>
            <a:r>
              <a:rPr lang="en-US" sz="2400" b="1" dirty="0"/>
              <a:t>Hardware Requirements:</a:t>
            </a:r>
            <a:r>
              <a:rPr lang="en-US" sz="2400" dirty="0"/>
              <a:t> Minimum 4GB RAM, 20GB free storage, Intel i3 processor or above</a:t>
            </a:r>
          </a:p>
          <a:p>
            <a:endParaRPr lang="en-US" sz="2400" dirty="0"/>
          </a:p>
          <a:p>
            <a:pPr marL="342900" indent="-342900">
              <a:buFont typeface="Wingdings" panose="05000000000000000000" pitchFamily="2" charset="2"/>
              <a:buChar char="q"/>
            </a:pPr>
            <a:r>
              <a:rPr lang="en-US" sz="2400" b="1" dirty="0"/>
              <a:t>Software Requirements:</a:t>
            </a:r>
            <a:r>
              <a:rPr lang="en-US" sz="2400" dirty="0"/>
              <a:t> Windows / Linux / macOS,  Apache Server,  PHP 7.4 or above,  MySQL 5.7 or above,  Modern Web Browser</a:t>
            </a:r>
          </a:p>
          <a:p>
            <a:endParaRPr lang="en-US" sz="2400" dirty="0"/>
          </a:p>
          <a:p>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41234" y="1136317"/>
            <a:ext cx="15544800" cy="12157174"/>
          </a:xfrm>
          <a:prstGeom prst="rect">
            <a:avLst/>
          </a:prstGeom>
          <a:noFill/>
        </p:spPr>
        <p:txBody>
          <a:bodyPr wrap="square" rtlCol="0">
            <a:spAutoFit/>
          </a:bodyPr>
          <a:lstStyle/>
          <a:p>
            <a:r>
              <a:rPr lang="en-US" sz="2800" b="1" dirty="0"/>
              <a:t>Module 1: User Management</a:t>
            </a:r>
          </a:p>
          <a:p>
            <a:r>
              <a:rPr lang="en-US" sz="2800" dirty="0"/>
              <a:t>This module manages user accounts within the system, including student and admin roles. It allows user registration, login, and authentication using secure mechanisms. Each user is uniquely identified and assigned roles for access control. The module ensures proper handling of user sessions and role-based permissions.</a:t>
            </a:r>
            <a:endParaRPr lang="en-IN" sz="2800" dirty="0"/>
          </a:p>
          <a:p>
            <a:r>
              <a:rPr lang="en-US" sz="2800" b="1" dirty="0"/>
              <a:t>Module 2: </a:t>
            </a:r>
            <a:r>
              <a:rPr lang="en-IN" sz="2800" b="1" dirty="0"/>
              <a:t>Event Management</a:t>
            </a:r>
            <a:endParaRPr lang="en-US" sz="2800" b="1" dirty="0"/>
          </a:p>
          <a:p>
            <a:r>
              <a:rPr lang="en-US" sz="2800" dirty="0"/>
              <a:t>This module handles all event-related operations such as adding, editing, deleting, and viewing events. Admin users can manage event details like title, date, description, and category. It performs CRUD operations efficiently. Events are stored in the database and displayed dynamically to users.</a:t>
            </a:r>
          </a:p>
          <a:p>
            <a:r>
              <a:rPr lang="en-US" sz="2800" b="1" dirty="0"/>
              <a:t>Module 3: </a:t>
            </a:r>
            <a:r>
              <a:rPr lang="en-IN" sz="2800" b="1" dirty="0"/>
              <a:t>Registration</a:t>
            </a:r>
            <a:r>
              <a:rPr lang="en-US" sz="2800" b="1" dirty="0"/>
              <a:t> Management</a:t>
            </a:r>
          </a:p>
          <a:p>
            <a:r>
              <a:rPr lang="en-US" sz="2800" dirty="0"/>
              <a:t>This module manages event registrations by students. Users can register for events and view their registered events. It maintains the relationship between users and events using relational mapping. The module ensures accurate tracking of participation data.</a:t>
            </a:r>
          </a:p>
          <a:p>
            <a:r>
              <a:rPr lang="en-US" sz="2800" b="1" dirty="0"/>
              <a:t>Module 4: </a:t>
            </a:r>
            <a:r>
              <a:rPr lang="en-IN" sz="2800" b="1" dirty="0"/>
              <a:t>Database Management</a:t>
            </a:r>
            <a:endParaRPr lang="en-US" sz="2800" b="1" dirty="0"/>
          </a:p>
          <a:p>
            <a:r>
              <a:rPr lang="en-US" sz="2800" dirty="0"/>
              <a:t>This module manages data storage and retrieval using a relational database (H2/MySQL). It maintains relationships between Users, Events, and Registrations tables using primary and foreign keys. It ensures structured and consistent data handling through JPA and Hibernate.</a:t>
            </a:r>
          </a:p>
          <a:p>
            <a:r>
              <a:rPr lang="en-US" sz="2800" b="1" dirty="0"/>
              <a:t>Module 5: </a:t>
            </a:r>
            <a:r>
              <a:rPr lang="en-IN" sz="2800" b="1" dirty="0"/>
              <a:t>Analytics &amp; Reporting</a:t>
            </a:r>
          </a:p>
          <a:p>
            <a:r>
              <a:rPr lang="en-US" sz="2800" dirty="0"/>
              <a:t>This module provides insights such as total registrations and event-wise participation details. It retrieves and processes data dynamically for analysis. Reports are displayed in a user-friendly format through dashboards. It helps administrators make informed decisions.</a:t>
            </a:r>
            <a:endParaRPr lang="en-US" sz="2800" b="1"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3083350" y="6852905"/>
            <a:ext cx="12732020" cy="1815882"/>
          </a:xfrm>
          <a:prstGeom prst="rect">
            <a:avLst/>
          </a:prstGeom>
          <a:noFill/>
        </p:spPr>
        <p:txBody>
          <a:bodyPr wrap="square" rtlCol="0">
            <a:spAutoFit/>
          </a:bodyPr>
          <a:lstStyle/>
          <a:p>
            <a:r>
              <a:rPr lang="en-US" sz="2800" b="1" dirty="0"/>
              <a:t>HOME PAGE: </a:t>
            </a:r>
            <a:r>
              <a:rPr lang="en-US" sz="2800" dirty="0"/>
              <a:t>Discover and register for campus events like workshops, seminars, and networking sessions with </a:t>
            </a:r>
            <a:r>
              <a:rPr lang="en-US" sz="2800" dirty="0" err="1"/>
              <a:t>ease.Stay</a:t>
            </a:r>
            <a:r>
              <a:rPr lang="en-US" sz="2800" dirty="0"/>
              <a:t> connected, enhance your skills, and manage your event participation in one place.</a:t>
            </a:r>
          </a:p>
          <a:p>
            <a:endParaRPr lang="en-US" sz="2800" dirty="0"/>
          </a:p>
        </p:txBody>
      </p:sp>
      <p:pic>
        <p:nvPicPr>
          <p:cNvPr id="3" name="Picture 2">
            <a:extLst>
              <a:ext uri="{FF2B5EF4-FFF2-40B4-BE49-F238E27FC236}">
                <a16:creationId xmlns:a16="http://schemas.microsoft.com/office/drawing/2014/main" id="{C5BD3CDC-49CD-0AC6-626D-055D6FF3D3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1447661"/>
            <a:ext cx="9829800" cy="4721805"/>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C8D405-EC46-7A4A-E6E2-C39F93A01514}"/>
              </a:ext>
            </a:extLst>
          </p:cNvPr>
          <p:cNvSpPr txBox="1"/>
          <p:nvPr/>
        </p:nvSpPr>
        <p:spPr>
          <a:xfrm>
            <a:off x="2247900" y="342900"/>
            <a:ext cx="13792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7829013-B065-F175-3876-DFC4D32905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1866900"/>
            <a:ext cx="4134427" cy="4096322"/>
          </a:xfrm>
          <a:prstGeom prst="rect">
            <a:avLst/>
          </a:prstGeom>
        </p:spPr>
      </p:pic>
      <p:pic>
        <p:nvPicPr>
          <p:cNvPr id="6" name="Picture 5">
            <a:extLst>
              <a:ext uri="{FF2B5EF4-FFF2-40B4-BE49-F238E27FC236}">
                <a16:creationId xmlns:a16="http://schemas.microsoft.com/office/drawing/2014/main" id="{83274C7F-3EB9-7E67-25B9-D5F7A15D33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3200" y="1409700"/>
            <a:ext cx="4267700" cy="5515745"/>
          </a:xfrm>
          <a:prstGeom prst="rect">
            <a:avLst/>
          </a:prstGeom>
        </p:spPr>
      </p:pic>
      <p:sp>
        <p:nvSpPr>
          <p:cNvPr id="7" name="TextBox 6">
            <a:extLst>
              <a:ext uri="{FF2B5EF4-FFF2-40B4-BE49-F238E27FC236}">
                <a16:creationId xmlns:a16="http://schemas.microsoft.com/office/drawing/2014/main" id="{282B23C7-21A0-32EE-8609-2F0FDE2B76D2}"/>
              </a:ext>
            </a:extLst>
          </p:cNvPr>
          <p:cNvSpPr txBox="1"/>
          <p:nvPr/>
        </p:nvSpPr>
        <p:spPr>
          <a:xfrm>
            <a:off x="990600" y="6669744"/>
            <a:ext cx="7269379" cy="1569660"/>
          </a:xfrm>
          <a:prstGeom prst="rect">
            <a:avLst/>
          </a:prstGeom>
          <a:noFill/>
        </p:spPr>
        <p:txBody>
          <a:bodyPr wrap="square">
            <a:spAutoFit/>
          </a:bodyPr>
          <a:lstStyle/>
          <a:p>
            <a:pPr>
              <a:buNone/>
            </a:pPr>
            <a:r>
              <a:rPr lang="en-US" sz="2400" b="1" dirty="0"/>
              <a:t>Login Page:</a:t>
            </a:r>
          </a:p>
          <a:p>
            <a:pPr>
              <a:buNone/>
            </a:pPr>
            <a:r>
              <a:rPr lang="en-US" sz="2400" dirty="0"/>
              <a:t>Access your account to explore events, manage registrations, and stay </a:t>
            </a:r>
            <a:r>
              <a:rPr lang="en-US" sz="2400" dirty="0" err="1"/>
              <a:t>updated.Sign</a:t>
            </a:r>
            <a:r>
              <a:rPr lang="en-US" sz="2400" dirty="0"/>
              <a:t> in securely to continue your campus event experience.</a:t>
            </a:r>
          </a:p>
        </p:txBody>
      </p:sp>
      <p:sp>
        <p:nvSpPr>
          <p:cNvPr id="8" name="TextBox 7">
            <a:extLst>
              <a:ext uri="{FF2B5EF4-FFF2-40B4-BE49-F238E27FC236}">
                <a16:creationId xmlns:a16="http://schemas.microsoft.com/office/drawing/2014/main" id="{F9A9BA29-C15C-8B19-C42E-46F0D3FF9B2F}"/>
              </a:ext>
            </a:extLst>
          </p:cNvPr>
          <p:cNvSpPr txBox="1"/>
          <p:nvPr/>
        </p:nvSpPr>
        <p:spPr>
          <a:xfrm>
            <a:off x="9142896" y="7485300"/>
            <a:ext cx="6897204" cy="1569660"/>
          </a:xfrm>
          <a:prstGeom prst="rect">
            <a:avLst/>
          </a:prstGeom>
          <a:noFill/>
        </p:spPr>
        <p:txBody>
          <a:bodyPr wrap="square">
            <a:spAutoFit/>
          </a:bodyPr>
          <a:lstStyle/>
          <a:p>
            <a:pPr>
              <a:buNone/>
            </a:pPr>
            <a:r>
              <a:rPr lang="en-US" sz="2400" b="1" dirty="0"/>
              <a:t>Signup Page:</a:t>
            </a:r>
          </a:p>
          <a:p>
            <a:pPr>
              <a:buNone/>
            </a:pPr>
            <a:r>
              <a:rPr lang="en-US" sz="2400" dirty="0"/>
              <a:t>Create your account to discover, register, and participate in campus </a:t>
            </a:r>
            <a:r>
              <a:rPr lang="en-US" sz="2400" dirty="0" err="1"/>
              <a:t>events.Join</a:t>
            </a:r>
            <a:r>
              <a:rPr lang="en-US" sz="2400" dirty="0"/>
              <a:t> now to connect, learn, and enhance your campus journey.</a:t>
            </a:r>
          </a:p>
        </p:txBody>
      </p:sp>
    </p:spTree>
    <p:extLst>
      <p:ext uri="{BB962C8B-B14F-4D97-AF65-F5344CB8AC3E}">
        <p14:creationId xmlns:p14="http://schemas.microsoft.com/office/powerpoint/2010/main" val="3551984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4DA39C2F-D1F8-F82A-C9E9-139F21C97061}"/>
              </a:ext>
            </a:extLst>
          </p:cNvPr>
          <p:cNvSpPr txBox="1"/>
          <p:nvPr/>
        </p:nvSpPr>
        <p:spPr>
          <a:xfrm>
            <a:off x="2393473" y="8077839"/>
            <a:ext cx="14210674" cy="1384995"/>
          </a:xfrm>
          <a:prstGeom prst="rect">
            <a:avLst/>
          </a:prstGeom>
          <a:noFill/>
        </p:spPr>
        <p:txBody>
          <a:bodyPr wrap="square">
            <a:spAutoFit/>
          </a:bodyPr>
          <a:lstStyle/>
          <a:p>
            <a:r>
              <a:rPr lang="en-US" sz="2800" b="1" dirty="0"/>
              <a:t>Admin Dashboard:</a:t>
            </a:r>
          </a:p>
          <a:p>
            <a:r>
              <a:rPr lang="en-US" sz="2800" dirty="0"/>
              <a:t>Manage and monitor all campus events and registrations from a centralized dashboard.</a:t>
            </a:r>
            <a:br>
              <a:rPr lang="en-US" sz="2800" dirty="0"/>
            </a:br>
            <a:r>
              <a:rPr lang="en-US" sz="2800" dirty="0"/>
              <a:t>Create, update, and track events efficiently while gaining insights into participation.</a:t>
            </a:r>
          </a:p>
        </p:txBody>
      </p:sp>
      <p:sp>
        <p:nvSpPr>
          <p:cNvPr id="2" name="AutoShape 2" descr="Uploaded image">
            <a:extLst>
              <a:ext uri="{FF2B5EF4-FFF2-40B4-BE49-F238E27FC236}">
                <a16:creationId xmlns:a16="http://schemas.microsoft.com/office/drawing/2014/main" id="{B19B79DA-E660-4164-CD0F-1F3847222AE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Uploaded image">
            <a:extLst>
              <a:ext uri="{FF2B5EF4-FFF2-40B4-BE49-F238E27FC236}">
                <a16:creationId xmlns:a16="http://schemas.microsoft.com/office/drawing/2014/main" id="{DA8B28C5-5B96-4A5D-81B7-AB3DE66822D9}"/>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6" descr="Uploaded image">
            <a:extLst>
              <a:ext uri="{FF2B5EF4-FFF2-40B4-BE49-F238E27FC236}">
                <a16:creationId xmlns:a16="http://schemas.microsoft.com/office/drawing/2014/main" id="{40916760-A292-1CE7-4004-C8197EDC38C4}"/>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8" name="Picture 37">
            <a:extLst>
              <a:ext uri="{FF2B5EF4-FFF2-40B4-BE49-F238E27FC236}">
                <a16:creationId xmlns:a16="http://schemas.microsoft.com/office/drawing/2014/main" id="{FBE4CBD7-AC13-90D2-0E35-2EB508B879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6626" y="1485899"/>
            <a:ext cx="14247374" cy="630806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9913731" y="2122881"/>
            <a:ext cx="7396528" cy="2246769"/>
          </a:xfrm>
          <a:prstGeom prst="rect">
            <a:avLst/>
          </a:prstGeom>
          <a:noFill/>
        </p:spPr>
        <p:txBody>
          <a:bodyPr wrap="square" rtlCol="0">
            <a:spAutoFit/>
          </a:bodyPr>
          <a:lstStyle/>
          <a:p>
            <a:r>
              <a:rPr lang="en-US" sz="2800" b="1" dirty="0"/>
              <a:t>Manage Events Page (Admin):</a:t>
            </a:r>
          </a:p>
          <a:p>
            <a:r>
              <a:rPr lang="en-US" sz="2800" dirty="0"/>
              <a:t>Create and manage campus events by adding details like title, date, department, and capacity.</a:t>
            </a:r>
            <a:br>
              <a:rPr lang="en-US" sz="2800" dirty="0"/>
            </a:br>
            <a:r>
              <a:rPr lang="en-US" sz="2800" dirty="0"/>
              <a:t>Easily organize and update events to ensure smooth coordination and participation.</a:t>
            </a:r>
          </a:p>
        </p:txBody>
      </p:sp>
      <p:sp>
        <p:nvSpPr>
          <p:cNvPr id="42" name="TextBox 41">
            <a:extLst>
              <a:ext uri="{FF2B5EF4-FFF2-40B4-BE49-F238E27FC236}">
                <a16:creationId xmlns:a16="http://schemas.microsoft.com/office/drawing/2014/main" id="{41676DDF-EEBA-0CF7-5C63-64E3A6892146}"/>
              </a:ext>
            </a:extLst>
          </p:cNvPr>
          <p:cNvSpPr txBox="1"/>
          <p:nvPr/>
        </p:nvSpPr>
        <p:spPr>
          <a:xfrm>
            <a:off x="2295509" y="5944838"/>
            <a:ext cx="7398140" cy="2677656"/>
          </a:xfrm>
          <a:prstGeom prst="rect">
            <a:avLst/>
          </a:prstGeom>
          <a:noFill/>
        </p:spPr>
        <p:txBody>
          <a:bodyPr wrap="square">
            <a:spAutoFit/>
          </a:bodyPr>
          <a:lstStyle/>
          <a:p>
            <a:pPr>
              <a:buNone/>
            </a:pPr>
            <a:r>
              <a:rPr lang="en-US" sz="2800" b="1" dirty="0"/>
              <a:t>Student Registrations (Admin View):</a:t>
            </a:r>
          </a:p>
          <a:p>
            <a:pPr>
              <a:buNone/>
            </a:pPr>
            <a:r>
              <a:rPr lang="en-US" sz="2800" dirty="0"/>
              <a:t>View and monitor all student registrations for campus events in a centralized dashboard.</a:t>
            </a:r>
            <a:br>
              <a:rPr lang="en-US" sz="2800" dirty="0"/>
            </a:br>
            <a:r>
              <a:rPr lang="en-US" sz="2800" dirty="0"/>
              <a:t>Track participant details, event information, and registration dates for better management and analysis.</a:t>
            </a:r>
          </a:p>
        </p:txBody>
      </p:sp>
      <p:pic>
        <p:nvPicPr>
          <p:cNvPr id="3" name="Picture 2">
            <a:extLst>
              <a:ext uri="{FF2B5EF4-FFF2-40B4-BE49-F238E27FC236}">
                <a16:creationId xmlns:a16="http://schemas.microsoft.com/office/drawing/2014/main" id="{614DE549-7577-201E-C01F-E40E57D062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9397" y="1265171"/>
            <a:ext cx="7364252" cy="4546286"/>
          </a:xfrm>
          <a:prstGeom prst="rect">
            <a:avLst/>
          </a:prstGeom>
        </p:spPr>
      </p:pic>
      <p:pic>
        <p:nvPicPr>
          <p:cNvPr id="5" name="Picture 4">
            <a:extLst>
              <a:ext uri="{FF2B5EF4-FFF2-40B4-BE49-F238E27FC236}">
                <a16:creationId xmlns:a16="http://schemas.microsoft.com/office/drawing/2014/main" id="{CE23A667-BF83-DB36-E23B-EA89899609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34149" y="5227361"/>
            <a:ext cx="7696200" cy="4076185"/>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AC67183-CC52-DB0E-68B6-88C28853AACF}"/>
              </a:ext>
            </a:extLst>
          </p:cNvPr>
          <p:cNvPicPr>
            <a:picLocks noChangeAspect="1"/>
          </p:cNvPicPr>
          <p:nvPr/>
        </p:nvPicPr>
        <p:blipFill>
          <a:blip r:embed="rId3"/>
          <a:stretch>
            <a:fillRect/>
          </a:stretch>
        </p:blipFill>
        <p:spPr>
          <a:xfrm>
            <a:off x="2478993" y="1242939"/>
            <a:ext cx="13918249" cy="5410955"/>
          </a:xfrm>
          <a:prstGeom prst="rect">
            <a:avLst/>
          </a:prstGeom>
        </p:spPr>
      </p:pic>
      <p:sp>
        <p:nvSpPr>
          <p:cNvPr id="3" name="TextBox 2">
            <a:extLst>
              <a:ext uri="{FF2B5EF4-FFF2-40B4-BE49-F238E27FC236}">
                <a16:creationId xmlns:a16="http://schemas.microsoft.com/office/drawing/2014/main" id="{0A1E14E9-837A-E7A1-A39B-A362E493ACB0}"/>
              </a:ext>
            </a:extLst>
          </p:cNvPr>
          <p:cNvSpPr txBox="1"/>
          <p:nvPr/>
        </p:nvSpPr>
        <p:spPr>
          <a:xfrm>
            <a:off x="2321913" y="7001696"/>
            <a:ext cx="14984826" cy="255454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Database Page in the Smart Campus Event Management System is designed for administrators to view, manage, and control all the stored data in an organized manner.</a:t>
            </a:r>
          </a:p>
          <a:p>
            <a:pPr algn="just"/>
            <a:r>
              <a:rPr lang="en-US" sz="32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acts as the central management interface where all important information related to users, events, bookings, and transactions is maintained.</a:t>
            </a:r>
            <a:endParaRPr lang="en-IN" sz="32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38D5859-AE94-99A2-4ED6-C16EFD55296A}"/>
              </a:ext>
            </a:extLst>
          </p:cNvPr>
          <p:cNvSpPr txBox="1"/>
          <p:nvPr/>
        </p:nvSpPr>
        <p:spPr>
          <a:xfrm>
            <a:off x="2740578" y="1828222"/>
            <a:ext cx="14045782" cy="6555641"/>
          </a:xfrm>
          <a:prstGeom prst="rect">
            <a:avLst/>
          </a:prstGeom>
          <a:noFill/>
        </p:spPr>
        <p:txBody>
          <a:bodyPr wrap="square">
            <a:spAutoFit/>
          </a:bodyPr>
          <a:lstStyle/>
          <a:p>
            <a:pPr>
              <a:buNone/>
            </a:pPr>
            <a:r>
              <a:rPr lang="en-US" sz="2800" b="1" dirty="0"/>
              <a:t>Advantages:</a:t>
            </a:r>
          </a:p>
          <a:p>
            <a:pPr>
              <a:buNone/>
            </a:pPr>
            <a:r>
              <a:rPr lang="en-US" sz="2800" dirty="0"/>
              <a:t>• Simple and user-friendly interface for easy event browsing and registration</a:t>
            </a:r>
            <a:br>
              <a:rPr lang="en-US" sz="2800" dirty="0"/>
            </a:br>
            <a:r>
              <a:rPr lang="en-US" sz="2800" dirty="0"/>
              <a:t>• Centralized system for managing all campus events efficiently</a:t>
            </a:r>
            <a:br>
              <a:rPr lang="en-US" sz="2800" dirty="0"/>
            </a:br>
            <a:r>
              <a:rPr lang="en-US" sz="2800" dirty="0"/>
              <a:t>• Supports full CRUD operations for event management by admin</a:t>
            </a:r>
            <a:br>
              <a:rPr lang="en-US" sz="2800" dirty="0"/>
            </a:br>
            <a:r>
              <a:rPr lang="en-US" sz="2800" dirty="0"/>
              <a:t>• Secure authentication and role-based access (Admin &amp; Student) using Spring Security</a:t>
            </a:r>
            <a:br>
              <a:rPr lang="en-US" sz="2800" dirty="0"/>
            </a:br>
            <a:r>
              <a:rPr lang="en-US" sz="2800" dirty="0"/>
              <a:t>• Real-time updates of event registrations and participation data</a:t>
            </a:r>
            <a:br>
              <a:rPr lang="en-US" sz="2800" dirty="0"/>
            </a:br>
            <a:r>
              <a:rPr lang="en-US" sz="2800" dirty="0"/>
              <a:t>• Responsive design compatible with desktop, tablet, and mobile devices</a:t>
            </a:r>
            <a:br>
              <a:rPr lang="en-US" sz="2800" dirty="0"/>
            </a:br>
            <a:r>
              <a:rPr lang="en-US" sz="2800" dirty="0"/>
              <a:t>• Efficient relational database structure ensuring data integrity</a:t>
            </a:r>
          </a:p>
          <a:p>
            <a:r>
              <a:rPr lang="en-US" sz="2800" b="1" dirty="0"/>
              <a:t>Limitations:</a:t>
            </a:r>
          </a:p>
          <a:p>
            <a:r>
              <a:rPr lang="en-US" sz="2800" dirty="0"/>
              <a:t>• Limited advanced data visualization (no graphical dashboards or charts)</a:t>
            </a:r>
            <a:br>
              <a:rPr lang="en-US" sz="2800" dirty="0"/>
            </a:br>
            <a:r>
              <a:rPr lang="en-US" sz="2800" dirty="0"/>
              <a:t>• Uses H2 in-memory database, so data is lost after application restart</a:t>
            </a:r>
            <a:br>
              <a:rPr lang="en-US" sz="2800" dirty="0"/>
            </a:br>
            <a:r>
              <a:rPr lang="en-US" sz="2800" dirty="0"/>
              <a:t>• Application is not deployed on the cloud (runs locally)</a:t>
            </a:r>
            <a:br>
              <a:rPr lang="en-US" sz="2800" dirty="0"/>
            </a:br>
            <a:r>
              <a:rPr lang="en-US" sz="2800" dirty="0"/>
              <a:t>• Limited notification system (no email/SMS alerts for events)</a:t>
            </a:r>
            <a:br>
              <a:rPr lang="en-US" sz="2800" dirty="0"/>
            </a:br>
            <a:r>
              <a:rPr lang="en-US" sz="2800" dirty="0"/>
              <a:t>• No export feature for reports (PDF/Excel)</a:t>
            </a:r>
            <a:br>
              <a:rPr lang="en-US" sz="2800" dirty="0"/>
            </a:br>
            <a:r>
              <a:rPr lang="en-US" sz="2800" dirty="0"/>
              <a:t>• Requires internet or local server setup to access the system</a:t>
            </a: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635</TotalTime>
  <Words>1707</Words>
  <Application>Microsoft Office PowerPoint</Application>
  <PresentationFormat>Custom</PresentationFormat>
  <Paragraphs>211</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Cambria</vt:lpstr>
      <vt:lpstr>Arial</vt:lpstr>
      <vt:lpstr>Gotham</vt:lpstr>
      <vt:lpstr>Gotham Bold Italics</vt:lpstr>
      <vt:lpstr>Times New Roman</vt:lpstr>
      <vt:lpstr>Bookman Old Style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Lakshmi sneha</dc:creator>
  <cp:lastModifiedBy>RAMBABU VOLLEPU</cp:lastModifiedBy>
  <cp:revision>15</cp:revision>
  <dcterms:created xsi:type="dcterms:W3CDTF">2006-08-16T00:00:00Z</dcterms:created>
  <dcterms:modified xsi:type="dcterms:W3CDTF">2026-05-05T19:22:20Z</dcterms:modified>
  <dc:identifier>DAHCaYqJ9OU</dc:identifier>
</cp:coreProperties>
</file>